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F4A4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120640"/>
            <a:ext cx="2560320" cy="25603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/ EDA PROJECT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Purchase Analysis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Factors Influencing Electric Vehicle Adoption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40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customer-level survey of 10,000 buyers, analyzed end-to-end from cleaning through a predictive model.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Presentation  •  Data Analyst / Data Scientist Role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6400800" cy="1554480"/>
          </a:xfrm>
          <a:prstGeom prst="rect">
            <a:avLst/>
          </a:prstGeom>
          <a:solidFill>
            <a:srgbClr val="F2F6F5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customers are most likely to buy an EV, and which factors actually drive that decision versus which ones just seem like they should?”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375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 company wants to understand which customer characteristics and concerns influence purchase decisions, so it can target marketing more effectively.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0" y="1600200"/>
            <a:ext cx="4297680" cy="4434840"/>
          </a:xfrm>
          <a:prstGeom prst="roundRect">
            <a:avLst>
              <a:gd name="adj" fmla="val 2553"/>
            </a:avLst>
          </a:prstGeom>
          <a:solidFill>
            <a:srgbClr val="0B3D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3524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3524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635240" y="25420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real customers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32552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Will_Buy_EV (17.5% positive)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37124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factor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39684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Subsidy availability (11x swing)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4425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635240" y="4681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635240" y="5138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5394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 ROC-AUC, 86% recall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988552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Purchase Analysis — Real Customer Data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Dataset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040880" cy="3291840"/>
        </p:xfrm>
        <a:graphic>
          <a:graphicData uri="http://schemas.openxmlformats.org/drawingml/2006/table">
            <a:tbl>
              <a:tblPr/>
              <a:tblGrid>
                <a:gridCol w="2011680"/>
                <a:gridCol w="502920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3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 customers, 15 columns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(178), Commute (181), Env. Concern (184) — filled with median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 / Key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duplicates; Buyer_ID unique across all rows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Will_Buy_EV — Yes/No, 17.5% positive (imbalanced)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909560" y="1691640"/>
            <a:ext cx="3703320" cy="4023360"/>
          </a:xfrm>
          <a:prstGeom prst="roundRect">
            <a:avLst>
              <a:gd name="adj" fmla="val 2963"/>
            </a:avLst>
          </a:prstGeom>
          <a:solidFill>
            <a:srgbClr val="F2F6F5"/>
          </a:solidFill>
          <a:ln w="9525">
            <a:solidFill>
              <a:srgbClr val="DCE6E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8388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FLAG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183880" y="22860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fields are stored as Yes/No or Low/Medium/High text, not numbers (target included). Encoded explicitly before any correlation or modeling step.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8988552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Purchase Analysis — Real Customer Data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Finding: Subsidy Dominates</a:t>
            </a:r>
            <a:endParaRPr lang="en-US" sz="2800" dirty="0"/>
          </a:p>
        </p:txBody>
      </p:sp>
      <p:pic>
        <p:nvPicPr>
          <p:cNvPr id="3" name="Image 0" descr="/home/claude/ev_project/charts2/01_buy_i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5212080" cy="4343400"/>
          </a:xfrm>
          <a:prstGeom prst="rect">
            <a:avLst/>
          </a:prstGeom>
        </p:spPr>
      </p:pic>
      <p:pic>
        <p:nvPicPr>
          <p:cNvPr id="4" name="Image 1" descr="/home/claude/ev_project/charts2/02_subsidy_effe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303520" cy="44196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989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17.5% of customers intend to buy</a:t>
            </a:r>
            <a:endParaRPr lang="en-US" sz="1150" dirty="0"/>
          </a:p>
        </p:txBody>
      </p:sp>
      <p:sp>
        <p:nvSpPr>
          <p:cNvPr id="6" name="Text 2"/>
          <p:cNvSpPr txBox="1"/>
          <p:nvPr/>
        </p:nvSpPr>
        <p:spPr>
          <a:xfrm>
            <a:off x="6309360" y="5989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Subsidy access = 11x difference in buy rate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8988552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Purchase Analysis — Real Customer Data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 Anxiety &amp; Environmental Concern</a:t>
            </a:r>
            <a:endParaRPr lang="en-US" sz="2800" dirty="0"/>
          </a:p>
        </p:txBody>
      </p:sp>
      <p:pic>
        <p:nvPicPr>
          <p:cNvPr id="3" name="Image 0" descr="/home/claude/ev_project/charts2/03_range_anxie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5212080" cy="4343400"/>
          </a:xfrm>
          <a:prstGeom prst="rect">
            <a:avLst/>
          </a:prstGeom>
        </p:spPr>
      </p:pic>
      <p:pic>
        <p:nvPicPr>
          <p:cNvPr id="4" name="Image 1" descr="/home/claude/ev_project/charts2/05_env_conce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303520" cy="44196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989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anxiety nearly eliminates purchase intent (0.6%)</a:t>
            </a:r>
            <a:endParaRPr lang="en-US" sz="1150" dirty="0"/>
          </a:p>
        </p:txBody>
      </p:sp>
      <p:sp>
        <p:nvSpPr>
          <p:cNvPr id="6" name="Text 2"/>
          <p:cNvSpPr txBox="1"/>
          <p:nvPr/>
        </p:nvSpPr>
        <p:spPr>
          <a:xfrm>
            <a:off x="6309360" y="5989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score 4.09/5 vs 2.75/5 on eco-concern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8988552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Purchase Analysis — Real Customer Data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Predicts a Purchase?</a:t>
            </a:r>
            <a:endParaRPr lang="en-US" sz="2800" dirty="0"/>
          </a:p>
        </p:txBody>
      </p:sp>
      <p:pic>
        <p:nvPicPr>
          <p:cNvPr id="3" name="Image 0" descr="/home/claude/ev_project/charts2/06_correlation_torn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554480"/>
            <a:ext cx="8503920" cy="563384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988552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Purchase Analysis — Real Customer Data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Assumption the Data Corrected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0698480" cy="3840480"/>
          </a:xfrm>
          <a:prstGeom prst="roundRect">
            <a:avLst>
              <a:gd name="adj" fmla="val 3571"/>
            </a:avLst>
          </a:prstGeom>
          <a:solidFill>
            <a:srgbClr val="F2F6F5"/>
          </a:solidFill>
          <a:ln w="9525">
            <a:solidFill>
              <a:srgbClr val="DCE6E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2194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“Surely nearby charging stations drive EV purchases...”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3017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stations near home: correlation −0.003.  Near work: +0.001.  Both statistically meaningless.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657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city type, current car type, number of cars owned, and daily commute distance were all similarly negligible.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572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27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check assumptions against the data before building a strategy on them.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988552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Purchase Analysis — Real Customer Data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Purchase Intent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0B3D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003804" y="2199132"/>
            <a:ext cx="362712" cy="219456"/>
          </a:xfrm>
          <a:prstGeom prst="rightArrow">
            <a:avLst/>
          </a:prstGeom>
          <a:solidFill>
            <a:srgbClr val="DCE6E4"/>
          </a:solidFill>
          <a:ln/>
        </p:spPr>
      </p:sp>
      <p:sp>
        <p:nvSpPr>
          <p:cNvPr id="6" name="Shape 4"/>
          <p:cNvSpPr/>
          <p:nvPr/>
        </p:nvSpPr>
        <p:spPr>
          <a:xfrm>
            <a:off x="3444240" y="173736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0B3D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44240" y="17373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(stratified)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99404" y="2199132"/>
            <a:ext cx="362712" cy="219456"/>
          </a:xfrm>
          <a:prstGeom prst="rightArrow">
            <a:avLst/>
          </a:prstGeom>
          <a:solidFill>
            <a:srgbClr val="DCE6E4"/>
          </a:solidFill>
          <a:ln/>
        </p:spPr>
      </p:sp>
      <p:sp>
        <p:nvSpPr>
          <p:cNvPr id="9" name="Shape 7"/>
          <p:cNvSpPr/>
          <p:nvPr/>
        </p:nvSpPr>
        <p:spPr>
          <a:xfrm>
            <a:off x="6339840" y="173736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3DDC9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39840" y="17373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(class_weight=balanced)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795004" y="2199132"/>
            <a:ext cx="362712" cy="219456"/>
          </a:xfrm>
          <a:prstGeom prst="rightArrow">
            <a:avLst/>
          </a:prstGeom>
          <a:solidFill>
            <a:srgbClr val="DCE6E4"/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0" y="173736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0B3D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235440" y="17373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993392" cy="1417320"/>
          </a:xfrm>
          <a:prstGeom prst="roundRect">
            <a:avLst>
              <a:gd name="adj" fmla="val 6452"/>
            </a:avLst>
          </a:prstGeom>
          <a:solidFill>
            <a:srgbClr val="F2F6F5"/>
          </a:solidFill>
          <a:ln w="9525">
            <a:solidFill>
              <a:srgbClr val="DCE6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6118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82.5%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16052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16352" y="3429000"/>
            <a:ext cx="1993392" cy="1417320"/>
          </a:xfrm>
          <a:prstGeom prst="roundRect">
            <a:avLst>
              <a:gd name="adj" fmla="val 6452"/>
            </a:avLst>
          </a:prstGeom>
          <a:solidFill>
            <a:srgbClr val="F2F6F5"/>
          </a:solidFill>
          <a:ln w="9525">
            <a:solidFill>
              <a:srgbClr val="DCE6E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816352" y="36118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81.4%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2907792" y="416052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84064" y="3429000"/>
            <a:ext cx="1993392" cy="1417320"/>
          </a:xfrm>
          <a:prstGeom prst="roundRect">
            <a:avLst>
              <a:gd name="adj" fmla="val 6452"/>
            </a:avLst>
          </a:prstGeom>
          <a:solidFill>
            <a:srgbClr val="F2F6F5"/>
          </a:solidFill>
          <a:ln w="9525">
            <a:solidFill>
              <a:srgbClr val="DCE6E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84064" y="36118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175504" y="416052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51776" y="3429000"/>
            <a:ext cx="1993392" cy="1417320"/>
          </a:xfrm>
          <a:prstGeom prst="roundRect">
            <a:avLst>
              <a:gd name="adj" fmla="val 6452"/>
            </a:avLst>
          </a:prstGeom>
          <a:solidFill>
            <a:srgbClr val="F2F6F5"/>
          </a:solidFill>
          <a:ln w="9525">
            <a:solidFill>
              <a:srgbClr val="DCE6E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51776" y="36118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443216" y="416052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619488" y="3429000"/>
            <a:ext cx="1993392" cy="1417320"/>
          </a:xfrm>
          <a:prstGeom prst="roundRect">
            <a:avLst>
              <a:gd name="adj" fmla="val 6452"/>
            </a:avLst>
          </a:prstGeom>
          <a:solidFill>
            <a:srgbClr val="F2F6F5"/>
          </a:solidFill>
          <a:ln w="9525">
            <a:solidFill>
              <a:srgbClr val="DCE6E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19488" y="36118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710928" y="416052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2F6F5"/>
          </a:solidFill>
          <a:ln w="9525">
            <a:solidFill>
              <a:srgbClr val="DCE6E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512064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(81.4%) sits below the 82.5% baseline on purpose — class weighting trades a little accuracy for 86% recall on real buyers, versus 0% for a model that just predicts ‘No’ every time.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988552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Purchase Analysis — Real Customer Data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Findings Into a Lead-Scoring Rule</a:t>
            </a:r>
            <a:endParaRPr lang="en-US" sz="2800" dirty="0"/>
          </a:p>
        </p:txBody>
      </p:sp>
      <p:pic>
        <p:nvPicPr>
          <p:cNvPr id="3" name="Image 0" descr="/home/claude/ev_project/charts2/07_ideal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00200"/>
            <a:ext cx="5120640" cy="426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0" y="169164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0B3D3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72084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720840" y="22860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Above-median environmental concern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Subsidy available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Home charging possible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720840" y="3611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46.5% buy rate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720840" y="42062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17.5% overall — a 2.7x lift, covering 2,292 of 10,000 customers (23%).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720840" y="5120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enough to hand directly to a sales team — no model required to act on it.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988552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Purchase Analysis — Real Customer Data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74520"/>
            <a:ext cx="3520440" cy="109728"/>
          </a:xfrm>
          <a:prstGeom prst="roundRect">
            <a:avLst/>
          </a:prstGeom>
          <a:solidFill>
            <a:srgbClr val="0B3D3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F2F6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subsidy eligibility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77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11x swing in buy rate — the highest-leverage lever available, ahead of any demographic targeting.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187452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5112" y="1874520"/>
            <a:ext cx="3520440" cy="109728"/>
          </a:xfrm>
          <a:prstGeom prst="roundRect">
            <a:avLst/>
          </a:prstGeom>
          <a:solidFill>
            <a:srgbClr val="12786B"/>
          </a:solidFill>
          <a:ln/>
        </p:spPr>
      </p:sp>
      <p:sp>
        <p:nvSpPr>
          <p:cNvPr id="11" name="Shape 9"/>
          <p:cNvSpPr/>
          <p:nvPr/>
        </p:nvSpPr>
        <p:spPr>
          <a:xfrm>
            <a:off x="4599432" y="2240280"/>
            <a:ext cx="548640" cy="548640"/>
          </a:xfrm>
          <a:prstGeom prst="ellipse">
            <a:avLst/>
          </a:prstGeom>
          <a:solidFill>
            <a:srgbClr val="F2F6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9432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9718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range-anxiety messaging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3977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Warranty, roadside assistance, and range calculators before broad demographic campaigns.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01584" y="187452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1584" y="1874520"/>
            <a:ext cx="3520440" cy="109728"/>
          </a:xfrm>
          <a:prstGeom prst="roundRect">
            <a:avLst/>
          </a:prstGeom>
          <a:solidFill>
            <a:srgbClr val="3DDC97"/>
          </a:solidFill>
          <a:ln/>
        </p:spPr>
      </p:sp>
      <p:sp>
        <p:nvSpPr>
          <p:cNvPr id="17" name="Shape 15"/>
          <p:cNvSpPr/>
          <p:nvPr/>
        </p:nvSpPr>
        <p:spPr>
          <a:xfrm>
            <a:off x="8375904" y="2240280"/>
            <a:ext cx="548640" cy="548640"/>
          </a:xfrm>
          <a:prstGeom prst="ellipse">
            <a:avLst/>
          </a:prstGeom>
          <a:solidFill>
            <a:srgbClr val="F2F6F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75904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375904" y="29718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charging-station-count targeting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375904" y="3977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shows no effect — charging feasibility matters, station count doesn't.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988552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Purchase Analysis — Real Customer Data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0F4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60-Second Interview Answer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0881360" cy="4480560"/>
          </a:xfrm>
          <a:prstGeom prst="roundRect">
            <a:avLst>
              <a:gd name="adj" fmla="val 2449"/>
            </a:avLst>
          </a:prstGeom>
          <a:solidFill>
            <a:srgbClr val="0F4A45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508760"/>
            <a:ext cx="10241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i="1" dirty="0">
                <a:solidFill>
                  <a:srgbClr val="E4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analyzed a 10,000-customer EV purchase survey to find which factors actually predict intent. After fixing a common issue where Yes/No fields were stored as text, I ranked every feature by correlation — only four mattered: environmental concern, subsidy, income, and range anxiety. Everything else, including charging-station proximity, was noise, correcting an assumption I started with. Subsidy access alone produced an 11x swing in buy rate. I trained a class-weighted Logistic Regression and got 0.91 ROC-AUC and 86% recall, explicitly explaining why accuracy came in below baseline rather than hiding it. I combined the top three factors into a lead-scoring rule that lifts buy rate from 17.5% to 46.5% for 23% of customers — a concrete, actionable output for a sales team.”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88552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Purchase Analysis — Real Customer Data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Frequently Asked Questions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2F6F5"/>
          </a:solidFill>
          <a:ln w="9525">
            <a:solidFill>
              <a:srgbClr val="DCE6E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856232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is accuracy below the baseline?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688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Class weighting trades accuracy for recall — 86% of real buyers caught vs. 0% for the naive baseline.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6916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2F6F5"/>
          </a:solidFill>
          <a:ln w="9525">
            <a:solidFill>
              <a:srgbClr val="DCE6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856232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exclude nothing but use class_weight instead?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4688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Keeps all signal available; weighting addresses the 17.5% imbalance directly without discarding data.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2F6F5"/>
          </a:solidFill>
          <a:ln w="9525">
            <a:solidFill>
              <a:srgbClr val="DCE6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959352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Doesn't charging-station count matter intuitively?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5720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It seems like it should — the data says it doesn't (correlation ≈ 0). Feasibility matters, count doesn't.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379476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2F6F5"/>
          </a:solidFill>
          <a:ln w="9525">
            <a:solidFill>
              <a:srgbClr val="DCE6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3959352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What's the most useful output for the business?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5720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A 3-factor lead-scoring rule lifting buy rate from 17.5% to 46.5% for 23% of customers.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988552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Purchase Analysis — Real Customer Data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F4A4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120640"/>
            <a:ext cx="2560320" cy="25603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8686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assumptions against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— then act on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actually there.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434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real factors, one actionable lead-scoring rule, and an honest account of a model's trade-offs.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760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2026-09-05T14:10:36Z</dcterms:created>
  <dcterms:modified xsi:type="dcterms:W3CDTF">2026-09-05T14:10:36Z</dcterms:modified>
</cp:coreProperties>
</file>